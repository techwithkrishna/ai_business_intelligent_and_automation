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658368" cy="658368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5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696" y="8569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BUSINESS INTELLIGENCE &amp; AUTOMATION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352044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Orders &amp; Customer Reviews into Actionable Business Intelligence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13232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 ·  Google Gemini  ·  PostgreSQL  ·  Flask  ·  Streamlit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Set Out To Answer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dashboards tell you what happened. The objective here was to go further — build a system that also explains why, and recommends what to do next, by combining order data and customer reviews under one AI-driven 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300837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848" y="3179552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business performing?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45920" y="32278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revenue, returns, and average order value at a glance.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97880" y="260604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6153912" y="300837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sm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088" y="3179552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2788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customers satisfied?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95160" y="32278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measured directly from review text, not just star ratings.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2976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804672" y="470001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8" y="4871192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480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problems keep recurring?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45920" y="49194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repeated complaints — delivery delays, sizing, quality issues.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897880" y="42976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153912" y="470001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088" y="4871192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480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 next?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95160" y="491947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turns raw patterns into concrete, prioritized recommendations.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System, Not Four Separate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reviews flow into a single pipeline: NLP scores sentiment, Gemini reasons over the aggregated patterns, and an AI agent coordinates the workflow end-to-end — all surfaced through one live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212080" cy="1920240"/>
          </a:xfrm>
          <a:prstGeom prst="roundRect">
            <a:avLst>
              <a:gd name="adj" fmla="val 3810"/>
            </a:avLst>
          </a:prstGeom>
          <a:solidFill>
            <a:srgbClr val="161C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2918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AI ANALYSIS → INSIGHTS → RECOMMENDATIONS →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in the app traces back to this same five-step flow — nothing is a one-off script.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516636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0" name="Image 0" descr="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491886"/>
            <a:ext cx="263347" cy="2633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63040" y="52852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model.  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intelligence, AI insights, and the automation agent all read from the same orders + reviews pipeline — one source of truth, not four.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80760" y="1508760"/>
            <a:ext cx="5532120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13" name="Shape 10"/>
          <p:cNvSpPr/>
          <p:nvPr/>
        </p:nvSpPr>
        <p:spPr>
          <a:xfrm>
            <a:off x="6217920" y="1618488"/>
            <a:ext cx="493776" cy="493776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4" name="Image 1" descr="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302" y="1746870"/>
            <a:ext cx="237012" cy="2370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1563624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Intelligence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58000" y="1837944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+ recurring issue detection, linked back to orders.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80760" y="2359152"/>
            <a:ext cx="5532120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18" name="Shape 14"/>
          <p:cNvSpPr/>
          <p:nvPr/>
        </p:nvSpPr>
        <p:spPr>
          <a:xfrm>
            <a:off x="6217920" y="2468880"/>
            <a:ext cx="493776" cy="493776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9" name="Image 2" descr="icons/gemi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02" y="2597262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2414016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Recommendations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0" y="2688336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Business, product, and marketing suggestions generated from real patterns.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080760" y="3209544"/>
            <a:ext cx="5532120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23" name="Shape 18"/>
          <p:cNvSpPr/>
          <p:nvPr/>
        </p:nvSpPr>
        <p:spPr>
          <a:xfrm>
            <a:off x="6217920" y="3319272"/>
            <a:ext cx="493776" cy="493776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4" name="Image 3" descr="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302" y="3447654"/>
            <a:ext cx="237012" cy="2370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58000" y="3264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Agent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58000" y="35387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data processing, analysis, and summary generation automatically.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080760" y="4059936"/>
            <a:ext cx="5532120" cy="713232"/>
          </a:xfrm>
          <a:prstGeom prst="roundRect">
            <a:avLst>
              <a:gd name="adj" fmla="val 8974"/>
            </a:avLst>
          </a:prstGeom>
          <a:solidFill>
            <a:srgbClr val="EEF3FC"/>
          </a:solidFill>
          <a:ln/>
        </p:spPr>
      </p:sp>
      <p:sp>
        <p:nvSpPr>
          <p:cNvPr id="28" name="Shape 22"/>
          <p:cNvSpPr/>
          <p:nvPr/>
        </p:nvSpPr>
        <p:spPr>
          <a:xfrm>
            <a:off x="6217920" y="4169664"/>
            <a:ext cx="493776" cy="493776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9" name="Image 4" descr="icons/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6302" y="4298046"/>
            <a:ext cx="237012" cy="23701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0" y="4114800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858000" y="438912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ratings, sentiment, returns, and trends in one live Streamlit view.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Decisions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6" name="Image 0" descr="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692" y="266675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+ Reviews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799905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9" name="Shape 6"/>
          <p:cNvSpPr/>
          <p:nvPr/>
        </p:nvSpPr>
        <p:spPr>
          <a:xfrm>
            <a:off x="1956816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67712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11" name="Image 1" descr="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868" y="2666756"/>
            <a:ext cx="280904" cy="280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83664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208081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3364992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675888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16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044" y="2666756"/>
            <a:ext cx="280904" cy="280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291840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Sentiment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616257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4773168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84064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21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220" y="2666756"/>
            <a:ext cx="280904" cy="280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00016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024433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181344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92240" y="2514600"/>
            <a:ext cx="585216" cy="585216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6" name="Image 4" descr="icons/gemin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4396" y="2666756"/>
            <a:ext cx="280904" cy="28090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08192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7432609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7589520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900416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31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2572" y="2666756"/>
            <a:ext cx="280904" cy="280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16368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8840785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8997696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9308592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36" name="Image 6" descr="icons/serv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60748" y="2666756"/>
            <a:ext cx="280904" cy="28090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924544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10248961" y="2939796"/>
            <a:ext cx="112654" cy="201168"/>
          </a:xfrm>
          <a:prstGeom prst="rightArrow">
            <a:avLst/>
          </a:prstGeom>
          <a:solidFill>
            <a:srgbClr val="E8483B"/>
          </a:solidFill>
          <a:ln/>
        </p:spPr>
      </p:sp>
      <p:sp>
        <p:nvSpPr>
          <p:cNvPr id="39" name="Shape 30"/>
          <p:cNvSpPr/>
          <p:nvPr/>
        </p:nvSpPr>
        <p:spPr>
          <a:xfrm>
            <a:off x="10405872" y="2331720"/>
            <a:ext cx="1207008" cy="1417320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 w="12700">
            <a:solidFill>
              <a:srgbClr val="2C387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10716768" y="2514600"/>
            <a:ext cx="585216" cy="585216"/>
          </a:xfrm>
          <a:prstGeom prst="ellipse">
            <a:avLst/>
          </a:prstGeom>
          <a:solidFill>
            <a:srgbClr val="334090"/>
          </a:solidFill>
          <a:ln/>
        </p:spPr>
      </p:sp>
      <p:pic>
        <p:nvPicPr>
          <p:cNvPr id="41" name="Image 7" descr="icons/deskto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8924" y="2666756"/>
            <a:ext cx="280904" cy="28090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332720" y="320040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48640" y="43434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and reviews are cleaned and joined, scored for sentiment, and stored in PostgreSQL. Gemini reasons over the combined signal to generate insights, the AI Agent automates that workflow end-to-end, and Flask serves it all to the Streamlit dashboard.</a:t>
            </a:r>
            <a:endParaRPr lang="en-US" sz="1350" dirty="0"/>
          </a:p>
        </p:txBody>
      </p:sp>
      <p:sp>
        <p:nvSpPr>
          <p:cNvPr id="44" name="Shape 34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45" name="Text 35"/>
          <p:cNvSpPr/>
          <p:nvPr/>
        </p:nvSpPr>
        <p:spPr>
          <a:xfrm>
            <a:off x="822960" y="5577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 stops at “what happened.” This pipeline adds “why it happened” and “what to do next” — automatically, on every run.</a:t>
            </a:r>
            <a:endParaRPr lang="en-US" sz="1250" dirty="0"/>
          </a:p>
        </p:txBody>
      </p:sp>
      <p:sp>
        <p:nvSpPr>
          <p:cNvPr id="46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383280" cy="4709160"/>
          </a:xfrm>
          <a:prstGeom prst="roundRect">
            <a:avLst>
              <a:gd name="adj" fmla="val 2162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694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KPIs, sentiment charts, AI insights, and a live review-tester UI.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14800" y="1554480"/>
            <a:ext cx="7525512" cy="4709160"/>
          </a:xfrm>
          <a:prstGeom prst="roundRect">
            <a:avLst>
              <a:gd name="adj" fmla="val 1553"/>
            </a:avLst>
          </a:prstGeom>
          <a:solidFill>
            <a:srgbClr val="161C4A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0" y="18105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89120" y="2240280"/>
            <a:ext cx="3396996" cy="1261872"/>
          </a:xfrm>
          <a:prstGeom prst="roundRect">
            <a:avLst>
              <a:gd name="adj" fmla="val 5072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423160"/>
            <a:ext cx="512064" cy="512064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4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137" y="2556297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2080" y="2404872"/>
            <a:ext cx="2436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12080" y="2743200"/>
            <a:ext cx="2391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backend service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968996" y="2240280"/>
            <a:ext cx="3396996" cy="1261872"/>
          </a:xfrm>
          <a:prstGeom prst="roundRect">
            <a:avLst>
              <a:gd name="adj" fmla="val 5072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8151876" y="2423160"/>
            <a:ext cx="512064" cy="512064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9" name="Image 2" descr="icons/gemi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5013" y="2556297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791956" y="2404872"/>
            <a:ext cx="2436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791956" y="2743200"/>
            <a:ext cx="2391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LLM-powered insights &amp; recommendations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89120" y="3685032"/>
            <a:ext cx="3396996" cy="1261872"/>
          </a:xfrm>
          <a:prstGeom prst="roundRect">
            <a:avLst>
              <a:gd name="adj" fmla="val 5072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4572000" y="3867912"/>
            <a:ext cx="512064" cy="512064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4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137" y="4001049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12080" y="3849624"/>
            <a:ext cx="2436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212080" y="4187952"/>
            <a:ext cx="2391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on review text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968996" y="3685032"/>
            <a:ext cx="3396996" cy="1261872"/>
          </a:xfrm>
          <a:prstGeom prst="roundRect">
            <a:avLst>
              <a:gd name="adj" fmla="val 5072"/>
            </a:avLst>
          </a:prstGeom>
          <a:solidFill>
            <a:srgbClr val="1E2761"/>
          </a:solidFill>
          <a:ln/>
        </p:spPr>
      </p:sp>
      <p:sp>
        <p:nvSpPr>
          <p:cNvPr id="28" name="Shape 22"/>
          <p:cNvSpPr/>
          <p:nvPr/>
        </p:nvSpPr>
        <p:spPr>
          <a:xfrm>
            <a:off x="8151876" y="3867912"/>
            <a:ext cx="512064" cy="512064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9" name="Image 4" descr="icons/termin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013" y="4001049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791956" y="3849624"/>
            <a:ext cx="24368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8791956" y="4187952"/>
            <a:ext cx="23911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&amp; data processing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389120" y="5129784"/>
            <a:ext cx="6976872" cy="905256"/>
          </a:xfrm>
          <a:prstGeom prst="roundRect">
            <a:avLst>
              <a:gd name="adj" fmla="val 7071"/>
            </a:avLst>
          </a:prstGeom>
          <a:solidFill>
            <a:srgbClr val="E8483B"/>
          </a:solidFill>
          <a:ln/>
        </p:spPr>
      </p:sp>
      <p:sp>
        <p:nvSpPr>
          <p:cNvPr id="33" name="Shape 26"/>
          <p:cNvSpPr/>
          <p:nvPr/>
        </p:nvSpPr>
        <p:spPr>
          <a:xfrm>
            <a:off x="4553712" y="5335524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5" descr="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2094" y="5463906"/>
            <a:ext cx="237012" cy="23701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212080" y="5129784"/>
            <a:ext cx="597103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automates the analysis workflow end-to-end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App,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021378"/>
          </a:xfrm>
          <a:prstGeom prst="roundRect">
            <a:avLst>
              <a:gd name="adj" fmla="val 1816"/>
            </a:avLst>
          </a:prstGeom>
          <a:solidFill>
            <a:srgbClr val="EEF3FC"/>
          </a:solidFill>
          <a:ln/>
        </p:spPr>
      </p:sp>
      <p:pic>
        <p:nvPicPr>
          <p:cNvPr id="5" name="Image 0" descr="shots/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5074920" cy="23630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10037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Dashboard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85800" y="4338114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revenue, returns &amp; sentiment at a glance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3021378"/>
          </a:xfrm>
          <a:prstGeom prst="roundRect">
            <a:avLst>
              <a:gd name="adj" fmla="val 1816"/>
            </a:avLst>
          </a:prstGeom>
          <a:solidFill>
            <a:srgbClr val="EEF3FC"/>
          </a:solidFill>
          <a:ln/>
        </p:spPr>
      </p:sp>
      <p:pic>
        <p:nvPicPr>
          <p:cNvPr id="9" name="Image 1" descr="shots/shot_customerda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074920" cy="23630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410037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Order Data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309360" y="4338114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combined review + order records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4831890"/>
            <a:ext cx="5349240" cy="3021378"/>
          </a:xfrm>
          <a:prstGeom prst="roundRect">
            <a:avLst>
              <a:gd name="adj" fmla="val 1816"/>
            </a:avLst>
          </a:prstGeom>
          <a:solidFill>
            <a:srgbClr val="EEF3FC"/>
          </a:solidFill>
          <a:ln/>
        </p:spPr>
      </p:sp>
      <p:pic>
        <p:nvPicPr>
          <p:cNvPr id="13" name="Image 2" descr="shots/shot_ai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69050"/>
            <a:ext cx="5074920" cy="23630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" y="7377779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Business Insights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85800" y="7615523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Gemini-generated recurring issues &amp; recommendations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6172200" y="4831890"/>
            <a:ext cx="5349240" cy="3021378"/>
          </a:xfrm>
          <a:prstGeom prst="roundRect">
            <a:avLst>
              <a:gd name="adj" fmla="val 1816"/>
            </a:avLst>
          </a:prstGeom>
          <a:solidFill>
            <a:srgbClr val="EEF3FC"/>
          </a:solidFill>
          <a:ln/>
        </p:spPr>
      </p:sp>
      <p:pic>
        <p:nvPicPr>
          <p:cNvPr id="17" name="Image 3" descr="shots/shot_senti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969050"/>
            <a:ext cx="5074920" cy="23630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7377779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309360" y="7615523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NLP scoring on any customer review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HOW TO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Live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66544"/>
            <a:ext cx="731520" cy="731520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6" name="Image 0" descr="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2256739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8745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Add your Gemini API key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828800" y="2258568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.env file in the project root and set: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49440" y="1947672"/>
            <a:ext cx="4297680" cy="969264"/>
          </a:xfrm>
          <a:prstGeom prst="roundRect">
            <a:avLst>
              <a:gd name="adj" fmla="val 5660"/>
            </a:avLst>
          </a:prstGeom>
          <a:solidFill>
            <a:srgbClr val="161C4A"/>
          </a:solidFill>
          <a:ln w="9525">
            <a:solidFill>
              <a:srgbClr val="334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1947672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E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GEMINI_API_KEY=your_gemini_api_key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310128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3685032"/>
            <a:ext cx="731520" cy="731520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13" name="Image 1" descr="icons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" y="3875227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28800" y="349300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Terminal 1 — Streamlit Dashboard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828800" y="3877056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frontend: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949440" y="3566160"/>
            <a:ext cx="4297680" cy="969264"/>
          </a:xfrm>
          <a:prstGeom prst="roundRect">
            <a:avLst>
              <a:gd name="adj" fmla="val 5660"/>
            </a:avLst>
          </a:prstGeom>
          <a:solidFill>
            <a:srgbClr val="161C4A"/>
          </a:solidFill>
          <a:ln w="9525">
            <a:solidFill>
              <a:srgbClr val="33409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32320" y="3566160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E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streamlit run Dashboard\app.py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4928616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1E2761"/>
          </a:solidFill>
          <a:ln/>
        </p:spPr>
      </p:sp>
      <p:sp>
        <p:nvSpPr>
          <p:cNvPr id="19" name="Shape 15"/>
          <p:cNvSpPr/>
          <p:nvPr/>
        </p:nvSpPr>
        <p:spPr>
          <a:xfrm>
            <a:off x="804672" y="5303520"/>
            <a:ext cx="731520" cy="731520"/>
          </a:xfrm>
          <a:prstGeom prst="ellipse">
            <a:avLst/>
          </a:prstGeom>
          <a:solidFill>
            <a:srgbClr val="E8483B"/>
          </a:solidFill>
          <a:ln/>
        </p:spPr>
      </p:sp>
      <p:pic>
        <p:nvPicPr>
          <p:cNvPr id="20" name="Image 2" descr="icons/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867" y="549371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28800" y="511149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Terminal 2 — Flask API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1828800" y="5495544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backend, and keep both terminals running: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949440" y="5184648"/>
            <a:ext cx="4297680" cy="969264"/>
          </a:xfrm>
          <a:prstGeom prst="roundRect">
            <a:avLst>
              <a:gd name="adj" fmla="val 5660"/>
            </a:avLst>
          </a:prstGeom>
          <a:solidFill>
            <a:srgbClr val="161C4A"/>
          </a:solidFill>
          <a:ln w="9525">
            <a:solidFill>
              <a:srgbClr val="33409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132320" y="5184648"/>
            <a:ext cx="393192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E3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uvicorn Dashboard.api:app --reload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both terminals running — the Streamlit UI calls the Flask API, which calls Gemini.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2026-08-23T06:45:46Z</dcterms:created>
  <dcterms:modified xsi:type="dcterms:W3CDTF">2026-08-23T06:45:46Z</dcterms:modified>
</cp:coreProperties>
</file>